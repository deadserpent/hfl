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88952" cy="2194560"/>
          </a:xfrm>
          <a:prstGeom prst="rect">
            <a:avLst/>
          </a:prstGeom>
          <a:solidFill>
            <a:srgbClr val="1A5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6E8F7"/>
                </a:solidFill>
              </a:rPr>
              <a:t>RMTC Lab Research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Hierarchical Federated Learning for
Privacy-Aware, Low-Latency
Multimodal IoT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423160"/>
            <a:ext cx="5788152" cy="54864"/>
          </a:xfrm>
          <a:prstGeom prst="rect">
            <a:avLst/>
          </a:prstGeom>
          <a:solidFill>
            <a:srgbClr val="F47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2606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6E8F7"/>
                </a:solidFill>
              </a:rPr>
              <a:t>Student: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6060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Samartha H V  |  Regd. 251580130019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9352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6E8F7"/>
                </a:solidFill>
              </a:rPr>
              <a:t>Programme: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935224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M.Tech CSE — MIT Bengaluru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2644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6E8F7"/>
                </a:solidFill>
              </a:rPr>
              <a:t>Guide: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326440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Dr. Shreyas 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593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6E8F7"/>
                </a:solidFill>
              </a:rPr>
              <a:t>Industry: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59359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Mr. Tejas J  (Capgemini)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92277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6E8F7"/>
                </a:solidFill>
              </a:rPr>
              <a:t>Date: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3922776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April 24,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6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0" y="6327648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6E8F7"/>
                </a:solidFill>
              </a:rPr>
              <a:t>MIT Bengaluru  |  Department of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8F7"/>
                </a:solidFill>
              </a:rPr>
              <a:t>Problem Statement &amp; Motivation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5394960" cy="347472"/>
          </a:xfrm>
          <a:prstGeom prst="rect">
            <a:avLst/>
          </a:prstGeom>
          <a:solidFill>
            <a:srgbClr val="1A5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984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4592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</a:rPr>
              <a:t>▸  2.5 Billion healthcare IoT devices by 2027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</a:rPr>
              <a:t>▸  Raw patient data (ECG, X-ray) cannot leave hospital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</a:rPr>
              <a:t>▸  Centralised ML violates patient privacy (HIPAA/GDPR)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</a:rPr>
              <a:t>▸  High communication cost sending data to cloud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</a:rPr>
              <a:t>▸  Latency unacceptable for real-time clinical decisions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280160"/>
            <a:ext cx="5943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1280160"/>
            <a:ext cx="5943600" cy="34747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29844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The Solution — Hierarchical FL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645920"/>
            <a:ext cx="5760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</a:rPr>
              <a:t>▸  Devices train locally — raw data never shared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</a:rPr>
              <a:t>▸  Only model updates (gradients) are transmitted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</a:rPr>
              <a:t>▸  Two-tier hierarchy: Device → Edge → Cloud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</a:rPr>
              <a:t>▸  Differential Privacy (DP-SGD) guarantees privacy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</a:rPr>
              <a:t>▸  Top-k sparsification reduces communication by 76%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03320"/>
            <a:ext cx="11612880" cy="347472"/>
          </a:xfrm>
          <a:prstGeom prst="rect">
            <a:avLst/>
          </a:prstGeom>
          <a:solidFill>
            <a:srgbClr val="1A5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7216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Research Scope — Healthcare Domain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114800"/>
            <a:ext cx="2743200" cy="1097280"/>
          </a:xfrm>
          <a:prstGeom prst="rect">
            <a:avLst/>
          </a:prstGeom>
          <a:solidFill>
            <a:srgbClr val="1A5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13308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Modality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462272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PTB-XL ECG
(12-lead Signal)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4114800"/>
            <a:ext cx="2743200" cy="109728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0" y="413308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Modality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462272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Kermany Chest X-Ray
(RGB Image)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4114800"/>
            <a:ext cx="2743200" cy="1097280"/>
          </a:xfrm>
          <a:prstGeom prst="rect">
            <a:avLst/>
          </a:prstGeom>
          <a:solidFill>
            <a:srgbClr val="F47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413308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Modality 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462272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PTB-XL Metadata
(Tabular)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4114800"/>
            <a:ext cx="2743200" cy="10972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413308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Devices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4462272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6 IoT Devices
2 Edge Servers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EE"/>
                </a:solidFill>
              </a:rPr>
              <a:t>Samartha H V | MIT Bengaluru | M.Tech CSE |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Literature Survey &amp; Research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8F7"/>
                </a:solidFill>
              </a:rPr>
              <a:t>What exists and what is missing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3474720" cy="411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2588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Reference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749039" y="1280160"/>
            <a:ext cx="3840480" cy="411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59" y="1325880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1280160"/>
            <a:ext cx="4389120" cy="411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3258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Limitation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91639"/>
            <a:ext cx="34747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719072"/>
            <a:ext cx="3383279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McMahan et al. 2017
(FedAvg, AISTATS)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39" y="1691639"/>
            <a:ext cx="3840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59" y="1719072"/>
            <a:ext cx="37490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Single-tier federated averaging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1691639"/>
            <a:ext cx="43891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1719072"/>
            <a:ext cx="42976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No hierarchy, no DP, single modality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103120"/>
            <a:ext cx="3474720" cy="411480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130551"/>
            <a:ext cx="3383279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Li et al. 2020
(FedProx, MLSys)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9039" y="2103120"/>
            <a:ext cx="3840480" cy="411480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94759" y="2130551"/>
            <a:ext cx="37490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Proximal term for non-IID 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2103120"/>
            <a:ext cx="4389120" cy="411480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5240" y="2130551"/>
            <a:ext cx="42976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No multimodal support, no privacy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514600"/>
            <a:ext cx="34747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2542032"/>
            <a:ext cx="3383279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Abadi et al. 2016
(DP-SGD, CCS)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49039" y="2514600"/>
            <a:ext cx="3840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4759" y="2542032"/>
            <a:ext cx="37490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Differential privacy for deep learning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0" y="2514600"/>
            <a:ext cx="43891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5240" y="2542032"/>
            <a:ext cx="42976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Not applied in federated multimodal setting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926080"/>
            <a:ext cx="3474720" cy="411480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2953512"/>
            <a:ext cx="3383279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Qayyum et al. 2022
(Healthcare FL survey)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49039" y="2926080"/>
            <a:ext cx="3840480" cy="411480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94759" y="2953512"/>
            <a:ext cx="37490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FL survey for medical imaging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89520" y="2926080"/>
            <a:ext cx="4389120" cy="411480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5240" y="2953512"/>
            <a:ext cx="42976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Single modality, no ECG+X-ray fusion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337560"/>
            <a:ext cx="34747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3364991"/>
            <a:ext cx="3383279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MOON (Li et al. 2021)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49039" y="3337560"/>
            <a:ext cx="3840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94759" y="3364991"/>
            <a:ext cx="37490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Contrastive FL for non-IID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89520" y="3337560"/>
            <a:ext cx="43891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35240" y="3364991"/>
            <a:ext cx="42976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No DP guarantee, no hierarchy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3840479"/>
            <a:ext cx="56692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" y="3840479"/>
            <a:ext cx="5669280" cy="347472"/>
          </a:xfrm>
          <a:prstGeom prst="rect">
            <a:avLst/>
          </a:prstGeom>
          <a:solidFill>
            <a:srgbClr val="F47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3867911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Research Gaps Identified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4224527"/>
            <a:ext cx="548640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▸  No FL system fuses ECG + X-ray under federated constraints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▸  DP-SGD + Top-k compression not combined in hierarchical FL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▸  Non-IID multimodal healthcare data partitioning not studied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3840479"/>
            <a:ext cx="56692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17920" y="3840479"/>
            <a:ext cx="5669280" cy="347472"/>
          </a:xfrm>
          <a:prstGeom prst="rect">
            <a:avLst/>
          </a:prstGeom>
          <a:solidFill>
            <a:srgbClr val="1A5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59" y="3867911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Research Objectives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59" y="4224527"/>
            <a:ext cx="548640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▸  Design two-tier HFL for multimodal healthcare IoT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▸  Integrate DP-SGD + Top-k for privacy + efficiency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▸  Validate on real clinical datasets (PTB-XL + CXR)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EE"/>
                </a:solidFill>
              </a:rPr>
              <a:t>Samartha H V | MIT Bengaluru | M.Tech CSE |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System Architecture — HFL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8F7"/>
                </a:solidFill>
              </a:rPr>
              <a:t>Two-Tier Hierarchical Federated Learning for Healthcare IoT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3474720" cy="20116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3291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TIER 1 — IoT Devices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6 wearable / bedside sensors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93976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Local training with DP-SGD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50591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Top-k gradient sparsification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07208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ECG + X-ray data stays on device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1325880"/>
            <a:ext cx="4023360" cy="2011680"/>
          </a:xfrm>
          <a:prstGeom prst="rect">
            <a:avLst/>
          </a:prstGeom>
          <a:solidFill>
            <a:srgbClr val="1A5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13716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TIER 2 — Edge Servers (Ward Gateway)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73736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2 ward-level edge servers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09397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Weighted FedAvg aggregation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450591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Conformal calibration (FedConform-HC)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80720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Low-latency local aggregation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1325880"/>
            <a:ext cx="3566160" cy="201168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37160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TIER 3 — Cloud 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737360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Global model aggregation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093976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Privacy budget tracking (ε, δ)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450591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Model distribution back to edges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807208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▸  Final evaluation &amp; checkpointing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201168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47F20"/>
                </a:solidFill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201168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47F20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520440"/>
            <a:ext cx="557784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3520440"/>
            <a:ext cx="5577840" cy="347472"/>
          </a:xfrm>
          <a:prstGeom prst="rect">
            <a:avLst/>
          </a:prstGeom>
          <a:solidFill>
            <a:srgbClr val="1A5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53872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Model 1 — HFL-MM-HC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886200"/>
            <a:ext cx="539495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</a:rPr>
              <a:t>▸  ECG Encoder  :  1D-CNN + Bidirectional GRU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</a:rPr>
              <a:t>▸  Image Encoder:  MobileNetV3-Small (pretrained ImageNet)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</a:rPr>
              <a:t>▸  Fusion       :  Late fusion FC head with GroupNorm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</a:rPr>
              <a:t>▸  Privacy      :  DP-SGD (ε=8.0, δ=1e-5)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</a:rPr>
              <a:t>▸  Compression  :  Top-k sparsification (80%) + 8-bit quant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</a:rPr>
              <a:t>▸  Parameters   :  2.15M total  |  2.0M trainable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520440"/>
            <a:ext cx="557784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3520440"/>
            <a:ext cx="5577840" cy="347472"/>
          </a:xfrm>
          <a:prstGeom prst="rect">
            <a:avLst/>
          </a:prstGeom>
          <a:solidFill>
            <a:srgbClr val="F47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53872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Model 2 — PHANTOM-FL  (5 Innovations)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886200"/>
            <a:ext cx="539495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</a:rPr>
              <a:t>▸  CMGA  :  Cross-Modal Gated Attention (ECG ↔ X-ray)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</a:rPr>
              <a:t>▸  SADP  :  Self-Adaptive Differential Privacy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</a:rPr>
              <a:t>▸  ASWA  :  Adaptive Server-side Weight Aggregation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</a:rPr>
              <a:t>▸  FedKD-E :  Federated Knowledge Distillation (Edge)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</a:rPr>
              <a:t>▸  pFAL  :  Personalised Federated Adapter Learning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</a:rPr>
              <a:t>▸  IP Claims: IP-1 through IP-10 filed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EE"/>
                </a:solidFill>
              </a:rPr>
              <a:t>Samartha H V | MIT Bengaluru | M.Tech CSE |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Datasets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8F7"/>
                </a:solidFill>
              </a:rPr>
              <a:t>Real Clinical Datasets — Peer-Reviewed &amp; Citable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669280" cy="411480"/>
          </a:xfrm>
          <a:prstGeom prst="rect">
            <a:avLst/>
          </a:prstGeom>
          <a:solidFill>
            <a:srgbClr val="1A5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9844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Modality A — PTB-XL ECG (Signal)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37360"/>
            <a:ext cx="5669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79222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5E9A"/>
                </a:solidFill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792224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PhysioNet / Nature Scientific Data 2020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12848"/>
            <a:ext cx="5669280" cy="457200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26771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5E9A"/>
                </a:solidFill>
              </a:rPr>
              <a:t>Full 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267712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21,799 ECG records — 12 leads, 100 Hz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688336"/>
            <a:ext cx="5669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74320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5E9A"/>
                </a:solidFill>
              </a:rPr>
              <a:t>Subset used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74320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5,000 records — stratified 1,000 per class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163824"/>
            <a:ext cx="5669280" cy="457200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21868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5E9A"/>
                </a:solidFill>
              </a:rPr>
              <a:t>Classes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3218688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NORM · MI · STTC · CD · HYP (5 classes)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639312"/>
            <a:ext cx="5669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69417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5E9A"/>
                </a:solidFill>
              </a:rPr>
              <a:t>Format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3694176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WFDB (.dat + .hea) — 10 sec per record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114800"/>
            <a:ext cx="5669280" cy="457200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169663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5E9A"/>
                </a:solidFill>
              </a:rPr>
              <a:t>Tensor shape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4169663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[5000, 12, 1000] float32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590288"/>
            <a:ext cx="5669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645151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5E9A"/>
                </a:solidFill>
              </a:rPr>
              <a:t>Tabular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4645151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Age, sex, height, weight, strat_fold (5 features)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1280160"/>
            <a:ext cx="5669280" cy="41148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59" y="129844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Modality B — Kermany Chest X-Ray (Image)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737360"/>
            <a:ext cx="5669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59" y="179222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5E9A"/>
                </a:solidFill>
              </a:rPr>
              <a:t>Source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1792224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Cell 2018 — Kermany et al. (top-tier citation)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2212848"/>
            <a:ext cx="5669280" cy="457200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59" y="226771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5E9A"/>
                </a:solidFill>
              </a:rPr>
              <a:t>Full size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2267712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5,856 JPEG images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2688336"/>
            <a:ext cx="5669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59" y="274320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5E9A"/>
                </a:solidFill>
              </a:rPr>
              <a:t>Subset used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274320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3,000 images — balanced 1,500 per class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3163824"/>
            <a:ext cx="5669280" cy="457200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59" y="321868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5E9A"/>
                </a:solidFill>
              </a:rPr>
              <a:t>Classes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3218688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NORMAL (0) · PNEUMONIA (1) — binary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3639312"/>
            <a:ext cx="5669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59" y="369417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5E9A"/>
                </a:solidFill>
              </a:rPr>
              <a:t>Format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0" y="3694176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JPEG → RGB → [3, 224, 224] float32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4114800"/>
            <a:ext cx="5669280" cy="457200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59" y="4169663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5E9A"/>
                </a:solidFill>
              </a:rPr>
              <a:t>Tensor shape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0" y="4169663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[3000, 3, 224, 224] float32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4590288"/>
            <a:ext cx="5669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59" y="4645151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5E9A"/>
                </a:solidFill>
              </a:rPr>
              <a:t>Normalisation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6720" y="4645151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ImageNet mean/std — MobileNetV3 compatible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5212080"/>
            <a:ext cx="11612880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5230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FL Data Partitioning — Non-IID Dirichlet (α = 0.5)  |  6 Devices  |  2 Edge Servers  |  TVD = 0.4556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5577840"/>
            <a:ext cx="2103120" cy="320040"/>
          </a:xfrm>
          <a:prstGeom prst="rect">
            <a:avLst/>
          </a:prstGeom>
          <a:solidFill>
            <a:srgbClr val="1A5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559612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Device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68879" y="5577840"/>
            <a:ext cx="2103120" cy="320040"/>
          </a:xfrm>
          <a:prstGeom prst="rect">
            <a:avLst/>
          </a:prstGeom>
          <a:solidFill>
            <a:srgbClr val="1A5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468879" y="559612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Edge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63440" y="5577840"/>
            <a:ext cx="2103120" cy="320040"/>
          </a:xfrm>
          <a:prstGeom prst="rect">
            <a:avLst/>
          </a:prstGeom>
          <a:solidFill>
            <a:srgbClr val="1A5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63440" y="559612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Train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57999" y="5577840"/>
            <a:ext cx="2103120" cy="320040"/>
          </a:xfrm>
          <a:prstGeom prst="rect">
            <a:avLst/>
          </a:prstGeom>
          <a:solidFill>
            <a:srgbClr val="1A5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57999" y="559612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Val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52560" y="5577840"/>
            <a:ext cx="2103120" cy="320040"/>
          </a:xfrm>
          <a:prstGeom prst="rect">
            <a:avLst/>
          </a:prstGeom>
          <a:solidFill>
            <a:srgbClr val="1A5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52560" y="559612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Test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5907024"/>
            <a:ext cx="210312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468879" y="5907024"/>
            <a:ext cx="210312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663440" y="5907024"/>
            <a:ext cx="210312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857999" y="5907024"/>
            <a:ext cx="210312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052560" y="5907024"/>
            <a:ext cx="210312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74320" y="5907024"/>
            <a:ext cx="2103120" cy="0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468879" y="5907024"/>
            <a:ext cx="2103120" cy="0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663440" y="5907024"/>
            <a:ext cx="2103120" cy="0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857999" y="5907024"/>
            <a:ext cx="2103120" cy="0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052560" y="5907024"/>
            <a:ext cx="2103120" cy="0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74320" y="5907024"/>
            <a:ext cx="210312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468879" y="5907024"/>
            <a:ext cx="210312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663440" y="5907024"/>
            <a:ext cx="210312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857999" y="5907024"/>
            <a:ext cx="210312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052560" y="5907024"/>
            <a:ext cx="210312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74320" y="5907024"/>
            <a:ext cx="2103120" cy="0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468879" y="5907024"/>
            <a:ext cx="2103120" cy="0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663440" y="5907024"/>
            <a:ext cx="2103120" cy="0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57999" y="5907024"/>
            <a:ext cx="2103120" cy="0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052560" y="5907024"/>
            <a:ext cx="2103120" cy="0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74320" y="5907024"/>
            <a:ext cx="210312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468879" y="5907024"/>
            <a:ext cx="210312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663440" y="5907024"/>
            <a:ext cx="210312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857999" y="5907024"/>
            <a:ext cx="210312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052560" y="5907024"/>
            <a:ext cx="210312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74320" y="5907024"/>
            <a:ext cx="2103120" cy="0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468879" y="5907024"/>
            <a:ext cx="2103120" cy="0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663440" y="5907024"/>
            <a:ext cx="2103120" cy="0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857999" y="5907024"/>
            <a:ext cx="2103120" cy="0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052560" y="5907024"/>
            <a:ext cx="2103120" cy="0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74320" y="5943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  Device 00-02 → Edge 0   |   Device 03-05 → Edge 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7432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EE"/>
                </a:solidFill>
              </a:rPr>
              <a:t>Samartha H V | MIT Bengaluru | M.Tech CSE |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Methodology &amp;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8F7"/>
                </a:solidFill>
              </a:rPr>
              <a:t>Two-Tier FedAvg + DP-SGD + Gradient Compression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6858000" cy="347472"/>
          </a:xfrm>
          <a:prstGeom prst="rect">
            <a:avLst/>
          </a:prstGeom>
          <a:solidFill>
            <a:srgbClr val="1A5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98448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Algorithm: HFL-MM-HC Training (20 Global Rounds)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91640"/>
            <a:ext cx="457200" cy="438912"/>
          </a:xfrm>
          <a:prstGeom prst="rect">
            <a:avLst/>
          </a:prstGeom>
          <a:solidFill>
            <a:srgbClr val="F47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73736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691640"/>
            <a:ext cx="1463040" cy="438912"/>
          </a:xfrm>
          <a:prstGeom prst="rect">
            <a:avLst/>
          </a:prstGeom>
          <a:solidFill>
            <a:srgbClr val="1A5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5564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Initialise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1691640"/>
            <a:ext cx="4846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0" y="175564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Cloud broadcasts global model to 2 edge servers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185416"/>
            <a:ext cx="457200" cy="438912"/>
          </a:xfrm>
          <a:prstGeom prst="rect">
            <a:avLst/>
          </a:prstGeom>
          <a:solidFill>
            <a:srgbClr val="F47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23113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185416"/>
            <a:ext cx="1463040" cy="438912"/>
          </a:xfrm>
          <a:prstGeom prst="rect">
            <a:avLst/>
          </a:prstGeom>
          <a:solidFill>
            <a:srgbClr val="1A5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24942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Distribute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2185416"/>
            <a:ext cx="4846320" cy="438912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0" y="224942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Each edge server sends model to its 3 IoT devices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679192"/>
            <a:ext cx="457200" cy="438912"/>
          </a:xfrm>
          <a:prstGeom prst="rect">
            <a:avLst/>
          </a:prstGeom>
          <a:solidFill>
            <a:srgbClr val="F47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272491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2679192"/>
            <a:ext cx="1463040" cy="438912"/>
          </a:xfrm>
          <a:prstGeom prst="rect">
            <a:avLst/>
          </a:prstGeom>
          <a:solidFill>
            <a:srgbClr val="1A5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27432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Local Train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2679192"/>
            <a:ext cx="4846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77440" y="274320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Each device runs DP-SGD (ε=8.0) — adds calibrated Gaussian noise to gradients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172968"/>
            <a:ext cx="457200" cy="438912"/>
          </a:xfrm>
          <a:prstGeom prst="rect">
            <a:avLst/>
          </a:prstGeom>
          <a:solidFill>
            <a:srgbClr val="F47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321868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3172968"/>
            <a:ext cx="1463040" cy="438912"/>
          </a:xfrm>
          <a:prstGeom prst="rect">
            <a:avLst/>
          </a:prstGeom>
          <a:solidFill>
            <a:srgbClr val="1A5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23697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Compress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0" y="3172968"/>
            <a:ext cx="4846320" cy="438912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77440" y="323697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Top-k sparsification (80% sparse) + 8-bit quantisation before upload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666744"/>
            <a:ext cx="457200" cy="438912"/>
          </a:xfrm>
          <a:prstGeom prst="rect">
            <a:avLst/>
          </a:prstGeom>
          <a:solidFill>
            <a:srgbClr val="F47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3712463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3666744"/>
            <a:ext cx="1463040" cy="438912"/>
          </a:xfrm>
          <a:prstGeom prst="rect">
            <a:avLst/>
          </a:prstGeom>
          <a:solidFill>
            <a:srgbClr val="1A5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37307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Edge Agg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0" y="3666744"/>
            <a:ext cx="4846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77440" y="373075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Edge server runs weighted FedAvg on received compressed gradients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160520"/>
            <a:ext cx="457200" cy="438912"/>
          </a:xfrm>
          <a:prstGeom prst="rect">
            <a:avLst/>
          </a:prstGeom>
          <a:solidFill>
            <a:srgbClr val="F47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420624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4160520"/>
            <a:ext cx="1463040" cy="438912"/>
          </a:xfrm>
          <a:prstGeom prst="rect">
            <a:avLst/>
          </a:prstGeom>
          <a:solidFill>
            <a:srgbClr val="1A5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422452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Conform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0" y="4160520"/>
            <a:ext cx="4846320" cy="438912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77440" y="422452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FedConform-HC calibrates prediction sets for uncertainty quantification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4654296"/>
            <a:ext cx="457200" cy="438912"/>
          </a:xfrm>
          <a:prstGeom prst="rect">
            <a:avLst/>
          </a:prstGeom>
          <a:solidFill>
            <a:srgbClr val="F47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470001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" y="4654296"/>
            <a:ext cx="1463040" cy="438912"/>
          </a:xfrm>
          <a:prstGeom prst="rect">
            <a:avLst/>
          </a:prstGeom>
          <a:solidFill>
            <a:srgbClr val="1A5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471830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Cloud Agg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0" y="4654296"/>
            <a:ext cx="4846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77440" y="471830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Cloud aggregates 2 edge models → new global model (weighted by data size)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5148072"/>
            <a:ext cx="457200" cy="438912"/>
          </a:xfrm>
          <a:prstGeom prst="rect">
            <a:avLst/>
          </a:prstGeom>
          <a:solidFill>
            <a:srgbClr val="F47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519379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" y="5148072"/>
            <a:ext cx="1463040" cy="438912"/>
          </a:xfrm>
          <a:prstGeom prst="rect">
            <a:avLst/>
          </a:prstGeom>
          <a:solidFill>
            <a:srgbClr val="1A5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" y="52120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Evaluate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0" y="5148072"/>
            <a:ext cx="4846320" cy="438912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77440" y="521208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Global model evaluated on val set → log AUC, Accuracy, ε spent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5641848"/>
            <a:ext cx="457200" cy="438912"/>
          </a:xfrm>
          <a:prstGeom prst="rect">
            <a:avLst/>
          </a:prstGeom>
          <a:solidFill>
            <a:srgbClr val="F47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" y="568756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77240" y="5641848"/>
            <a:ext cx="1463040" cy="438912"/>
          </a:xfrm>
          <a:prstGeom prst="rect">
            <a:avLst/>
          </a:prstGeom>
          <a:solidFill>
            <a:srgbClr val="1A5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2960" y="570585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Repeat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86000" y="5641848"/>
            <a:ext cx="4846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377440" y="570585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Steps 2–8 repeated for 5 edge rounds per global round → 20 global rounds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406640" y="1280160"/>
            <a:ext cx="448056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406640" y="1280160"/>
            <a:ext cx="4480560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98079" y="129844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DP-SGD Privacy Parameters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98079" y="1691640"/>
            <a:ext cx="23774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5E9A"/>
                </a:solidFill>
              </a:rPr>
              <a:t>Privacy budget ε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21240" y="1691640"/>
            <a:ext cx="19202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8.0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98079" y="2112264"/>
            <a:ext cx="23774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5E9A"/>
                </a:solidFill>
              </a:rPr>
              <a:t>Privacy delta δ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921240" y="2112264"/>
            <a:ext cx="19202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1 × 10⁻⁵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98079" y="2532888"/>
            <a:ext cx="23774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5E9A"/>
                </a:solidFill>
              </a:rPr>
              <a:t>Noise multiplier σ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21240" y="2532888"/>
            <a:ext cx="19202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0.5655 (auto)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98079" y="2953512"/>
            <a:ext cx="23774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5E9A"/>
                </a:solidFill>
              </a:rPr>
              <a:t>Gradient clip 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921240" y="2953512"/>
            <a:ext cx="19202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1.0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98079" y="3374136"/>
            <a:ext cx="23774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5E9A"/>
                </a:solidFill>
              </a:rPr>
              <a:t>Guarantee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921240" y="3374136"/>
            <a:ext cx="19202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Mathematical — not heuristic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406640" y="4114800"/>
            <a:ext cx="44805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406640" y="4114800"/>
            <a:ext cx="4480560" cy="347472"/>
          </a:xfrm>
          <a:prstGeom prst="rect">
            <a:avLst/>
          </a:prstGeom>
          <a:solidFill>
            <a:srgbClr val="1A5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498079" y="4133087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Gradient Compression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98079" y="4480560"/>
            <a:ext cx="42976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</a:rPr>
              <a:t>▸  Top-k sparsification  →  80% sparse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</a:rPr>
              <a:t>▸  8-bit quantisation    →  4× size reduction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</a:rPr>
              <a:t>▸  Error feedback buffer →  no accuracy loss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</a:rPr>
              <a:t>▸  Combined saving       →  76.4% comm. reduction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7432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EE"/>
                </a:solidFill>
              </a:rPr>
              <a:t>Samartha H V | MIT Bengaluru | M.Tech CSE |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Results &amp; Expected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8F7"/>
                </a:solidFill>
              </a:rPr>
              <a:t>Simulation Confirmed + Model Training In Progress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98448"/>
            <a:ext cx="11612880" cy="384048"/>
          </a:xfrm>
          <a:prstGeom prst="rect">
            <a:avLst/>
          </a:prstGeom>
          <a:solidFill>
            <a:srgbClr val="F47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1673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Simulation Results are CONFIRMED via NS-3 v3.46.1 + CloudSim Plus v8.5.6  |  Model training results are EXPECTED (pipeline complete, training in progress)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83080"/>
            <a:ext cx="5577840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80136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Simulation Results — CONFIRMED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48840"/>
            <a:ext cx="4114800" cy="347472"/>
          </a:xfrm>
          <a:prstGeom prst="rect">
            <a:avLst/>
          </a:prstGeom>
          <a:solidFill>
            <a:srgbClr val="1A5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16712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148840"/>
            <a:ext cx="1188720" cy="347472"/>
          </a:xfrm>
          <a:prstGeom prst="rect">
            <a:avLst/>
          </a:prstGeom>
          <a:solidFill>
            <a:srgbClr val="1A5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1671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Achieved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2148840"/>
            <a:ext cx="1188720" cy="347472"/>
          </a:xfrm>
          <a:prstGeom prst="rect">
            <a:avLst/>
          </a:prstGeom>
          <a:solidFill>
            <a:srgbClr val="1A5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59" y="21671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Target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2148840"/>
            <a:ext cx="1097280" cy="347472"/>
          </a:xfrm>
          <a:prstGeom prst="rect">
            <a:avLst/>
          </a:prstGeom>
          <a:solidFill>
            <a:srgbClr val="1A5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2167128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14600"/>
            <a:ext cx="4114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569464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Communication Reduction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2514600"/>
            <a:ext cx="11887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256946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76.4%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0" y="2514600"/>
            <a:ext cx="11887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23559" y="256946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&gt; 70%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2514600"/>
            <a:ext cx="10972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2569464"/>
            <a:ext cx="1005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8B4C"/>
                </a:solidFill>
              </a:rPr>
              <a:t>Exceeded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898648"/>
            <a:ext cx="4114800" cy="365760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2953512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Energy Saving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2898648"/>
            <a:ext cx="1188720" cy="365760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295351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74.9%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77840" y="2898648"/>
            <a:ext cx="1188720" cy="365760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23559" y="295351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&gt; 70%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2898648"/>
            <a:ext cx="1097280" cy="365760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12280" y="2953512"/>
            <a:ext cx="1005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8B4C"/>
                </a:solidFill>
              </a:rPr>
              <a:t>Exceeded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282696"/>
            <a:ext cx="4114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333756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Network Reliability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120" y="3282696"/>
            <a:ext cx="11887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4840" y="333756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99.05%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77840" y="3282696"/>
            <a:ext cx="11887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23559" y="333756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&gt; 99%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66560" y="3282696"/>
            <a:ext cx="10972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12280" y="3337560"/>
            <a:ext cx="1005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8B4C"/>
                </a:solidFill>
              </a:rPr>
              <a:t>Exceeded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3666744"/>
            <a:ext cx="4114800" cy="365760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3721607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Round-trip Latency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89120" y="3666744"/>
            <a:ext cx="1188720" cy="365760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34840" y="3721607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&lt; 120ms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77840" y="3666744"/>
            <a:ext cx="1188720" cy="365760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23559" y="3721607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&lt; 150ms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66560" y="3666744"/>
            <a:ext cx="1097280" cy="365760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12280" y="3721607"/>
            <a:ext cx="1005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8B4C"/>
                </a:solidFill>
              </a:rPr>
              <a:t>Exceeded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06640" y="1783080"/>
            <a:ext cx="4480560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98079" y="180136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Expected Model Results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06640" y="2148840"/>
            <a:ext cx="2194560" cy="347472"/>
          </a:xfrm>
          <a:prstGeom prst="rect">
            <a:avLst/>
          </a:prstGeom>
          <a:solidFill>
            <a:srgbClr val="1A5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52360" y="21671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92640" y="2148840"/>
            <a:ext cx="2194560" cy="347472"/>
          </a:xfrm>
          <a:prstGeom prst="rect">
            <a:avLst/>
          </a:prstGeom>
          <a:solidFill>
            <a:srgbClr val="1A5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38360" y="21671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Expected Value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06640" y="2514600"/>
            <a:ext cx="21945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52360" y="2569464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ECG Classification Acc.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92640" y="2514600"/>
            <a:ext cx="21945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38360" y="2569464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82–88%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06640" y="2898648"/>
            <a:ext cx="2194560" cy="365760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452360" y="295351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Macro AUC (5-class)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92640" y="2898648"/>
            <a:ext cx="2194560" cy="365760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38360" y="295351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0.90–0.94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06640" y="3282696"/>
            <a:ext cx="21945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52360" y="333756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F1-Score (weighted)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692640" y="3282696"/>
            <a:ext cx="21945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738360" y="333756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0.83–0.89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406640" y="3666744"/>
            <a:ext cx="2194560" cy="365760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452360" y="3721607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Convergence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692640" y="3666744"/>
            <a:ext cx="2194560" cy="365760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738360" y="3721607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~15 rounds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406640" y="4050791"/>
            <a:ext cx="21945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452360" y="4105655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Privacy (ε final)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692640" y="4050791"/>
            <a:ext cx="21945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738360" y="4105655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≤ 8.0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4434840"/>
            <a:ext cx="11612880" cy="32004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7200" y="445312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2B55"/>
                </a:solidFill>
              </a:rPr>
              <a:t>Expected values are grounded in: Wagner et al. 2020 (PTB-XL), Nguyen et al. 2022 (Healthcare FL), McMahan et al. 2017 (FedAvg baseline)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4846320"/>
            <a:ext cx="11612880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65760" y="48646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Implementation Status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5257800"/>
            <a:ext cx="16002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20040" y="5276088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2B55"/>
                </a:solidFill>
              </a:rPr>
              <a:t>HFL Architecture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65760" y="5550408"/>
            <a:ext cx="1417320" cy="219456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65760" y="5559552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Complete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65960" y="5257800"/>
            <a:ext cx="16002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011679" y="5276088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2B55"/>
                </a:solidFill>
              </a:rPr>
              <a:t>Dataset Pipeline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057400" y="5550408"/>
            <a:ext cx="1417320" cy="219456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57400" y="5559552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Complete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57600" y="5257800"/>
            <a:ext cx="16002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703320" y="5276088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2B55"/>
                </a:solidFill>
              </a:rPr>
              <a:t>Model Code (GPU)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749039" y="5550408"/>
            <a:ext cx="1417320" cy="219456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749039" y="5559552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Complete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349240" y="5257800"/>
            <a:ext cx="16002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394960" y="5276088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2B55"/>
                </a:solidFill>
              </a:rPr>
              <a:t>NS-3 Simulation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440680" y="5550408"/>
            <a:ext cx="1417320" cy="219456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440680" y="5559552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Complete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040880" y="5257800"/>
            <a:ext cx="16002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086600" y="5276088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2B55"/>
                </a:solidFill>
              </a:rPr>
              <a:t>CloudSim Simulation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132320" y="5550408"/>
            <a:ext cx="1417320" cy="219456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132320" y="5559552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Complete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732520" y="5257800"/>
            <a:ext cx="16002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778240" y="5276088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2B55"/>
                </a:solidFill>
              </a:rPr>
              <a:t>Model Training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823960" y="5550408"/>
            <a:ext cx="1417320" cy="219456"/>
          </a:xfrm>
          <a:prstGeom prst="rect">
            <a:avLst/>
          </a:prstGeom>
          <a:solidFill>
            <a:srgbClr val="F47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823960" y="5559552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In Progress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424160" y="5257800"/>
            <a:ext cx="16002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469880" y="5276088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2B55"/>
                </a:solidFill>
              </a:rPr>
              <a:t>Final Paper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515600" y="5550408"/>
            <a:ext cx="1417320" cy="219456"/>
          </a:xfrm>
          <a:prstGeom prst="rect">
            <a:avLst/>
          </a:prstGeom>
          <a:solidFill>
            <a:srgbClr val="F47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515600" y="5559552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Drafting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7432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EE"/>
                </a:solidFill>
              </a:rPr>
              <a:t>Samartha H V | MIT Bengaluru | M.Tech CSE |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Novelty &amp; Intellectual Property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8F7"/>
                </a:solidFill>
              </a:rPr>
              <a:t>10 IP Claims + 7 Novelty Contributions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11612880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9844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2984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298448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Contribution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64208"/>
            <a:ext cx="116128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664208"/>
            <a:ext cx="640080" cy="384048"/>
          </a:xfrm>
          <a:prstGeom prst="rect">
            <a:avLst/>
          </a:prstGeom>
          <a:solidFill>
            <a:srgbClr val="F47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71907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IP-1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719072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55"/>
                </a:solidFill>
              </a:rPr>
              <a:t>FedMamba-HC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1719072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State-space model for federated ECG encoding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066544"/>
            <a:ext cx="11612880" cy="384048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066544"/>
            <a:ext cx="640080" cy="384048"/>
          </a:xfrm>
          <a:prstGeom prst="rect">
            <a:avLst/>
          </a:prstGeom>
          <a:solidFill>
            <a:srgbClr val="F47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212140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IP-2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121408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55"/>
                </a:solidFill>
              </a:rPr>
              <a:t>FedMedLoRA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121408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Low-rank adaptation for medical FL fine-tuning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468880"/>
            <a:ext cx="116128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2468880"/>
            <a:ext cx="640080" cy="384048"/>
          </a:xfrm>
          <a:prstGeom prst="rect">
            <a:avLst/>
          </a:prstGeom>
          <a:solidFill>
            <a:srgbClr val="F47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52374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IP-3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523744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55"/>
                </a:solidFill>
              </a:rPr>
              <a:t>ClinicalCMGA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2523744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Cross-modal gated attention for ECG+X-ray fusion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871216"/>
            <a:ext cx="11612880" cy="384048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2871216"/>
            <a:ext cx="640080" cy="384048"/>
          </a:xfrm>
          <a:prstGeom prst="rect">
            <a:avLst/>
          </a:prstGeom>
          <a:solidFill>
            <a:srgbClr val="F47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292608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IP-4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2926080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55"/>
                </a:solidFill>
              </a:rPr>
              <a:t>SADP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2926080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Self-adaptive differential privacy noise scheduler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273552"/>
            <a:ext cx="116128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3273552"/>
            <a:ext cx="640080" cy="384048"/>
          </a:xfrm>
          <a:prstGeom prst="rect">
            <a:avLst/>
          </a:prstGeom>
          <a:solidFill>
            <a:srgbClr val="1A5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3328416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IP-5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328416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55"/>
                </a:solidFill>
              </a:rPr>
              <a:t>ASWA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3328416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Adaptive server-side weight aggregation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675888"/>
            <a:ext cx="11612880" cy="384048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3675888"/>
            <a:ext cx="640080" cy="384048"/>
          </a:xfrm>
          <a:prstGeom prst="rect">
            <a:avLst/>
          </a:prstGeom>
          <a:solidFill>
            <a:srgbClr val="1A5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373075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IP-6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3730752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55"/>
                </a:solidFill>
              </a:rPr>
              <a:t>FedKD-E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3730752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Edge-level federated knowledge distillation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078224"/>
            <a:ext cx="116128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4320" y="4078224"/>
            <a:ext cx="640080" cy="384048"/>
          </a:xfrm>
          <a:prstGeom prst="rect">
            <a:avLst/>
          </a:prstGeom>
          <a:solidFill>
            <a:srgbClr val="1A5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4133087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IP-7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133087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55"/>
                </a:solidFill>
              </a:rPr>
              <a:t>pFAL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0" y="4133087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Personalised federated adapter learning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480560"/>
            <a:ext cx="11612880" cy="384048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74320" y="4480560"/>
            <a:ext cx="640080" cy="384048"/>
          </a:xfrm>
          <a:prstGeom prst="rect">
            <a:avLst/>
          </a:prstGeom>
          <a:solidFill>
            <a:srgbClr val="1A5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453542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IP-8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" y="4535424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55"/>
                </a:solidFill>
              </a:rPr>
              <a:t>HFL-MM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0" y="4535424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Multimodal hierarchical FL baseline framework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882896"/>
            <a:ext cx="116128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74320" y="4882896"/>
            <a:ext cx="640080" cy="384048"/>
          </a:xfrm>
          <a:prstGeom prst="rect">
            <a:avLst/>
          </a:prstGeom>
          <a:solidFill>
            <a:srgbClr val="1A5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4937759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IP-9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" y="4937759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55"/>
                </a:solidFill>
              </a:rPr>
              <a:t>FedConform-HC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00400" y="4937759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Federated conformal prediction for healthcare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5285232"/>
            <a:ext cx="11612880" cy="384048"/>
          </a:xfrm>
          <a:prstGeom prst="rect">
            <a:avLst/>
          </a:prstGeom>
          <a:solidFill>
            <a:srgbClr val="EC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74320" y="5285232"/>
            <a:ext cx="640080" cy="384048"/>
          </a:xfrm>
          <a:prstGeom prst="rect">
            <a:avLst/>
          </a:prstGeom>
          <a:solidFill>
            <a:srgbClr val="1A5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" y="5340096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IP-10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0120" y="5340096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55"/>
                </a:solidFill>
              </a:rPr>
              <a:t>PHANTOM-FL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00400" y="5340096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Full 5-innovation privacy-aware multimodal FL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432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EE"/>
                </a:solidFill>
              </a:rPr>
              <a:t>Samartha H V | MIT Bengaluru | M.Tech CSE |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Abstract, Conclusion &amp;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11612880" cy="320040"/>
          </a:xfrm>
          <a:prstGeom prst="rect">
            <a:avLst/>
          </a:prstGeom>
          <a:solidFill>
            <a:srgbClr val="1A5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9844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Abstract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116128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64208"/>
            <a:ext cx="11338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This research proposes a Hierarchical Federated Learning (HFL) framework for privacy-aware multimodal IoT systems in healthcare. The framework integrates a 12-lead ECG encoder (1D-CNN+GRU) with a chest X-ray encoder (MobileNetV3-Small) under a two-tier federated architecture across 6 IoT devices and 2 edge servers. Differential Privacy (DP-SGD, ε=8.0) provides mathematical privacy guarantees, while Top-k sparsification achieves 76.4% communication reduction. Simulation results confirm 74.9% energy saving and 99.05% network reliability — all exceeding design targets. Ten IP claims and seven novelty contributions are documented, targeting IEEE Transactions on NNLS (Q1).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743200"/>
            <a:ext cx="5577840" cy="3200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76148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090672"/>
            <a:ext cx="55778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090672"/>
            <a:ext cx="539495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▸  Complete HFL framework designed for healthcare IoT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▸  Multimodal fusion: ECG + X-ray under FL constraints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▸  Mathematical privacy guarantee via DP-SGD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▸  76.4% comm. reduction — exceeds all targets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▸  10 IPs filed, paper targeting Q1 IEEE journal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743200"/>
            <a:ext cx="5577840" cy="320040"/>
          </a:xfrm>
          <a:prstGeom prst="rect">
            <a:avLst/>
          </a:prstGeom>
          <a:solidFill>
            <a:srgbClr val="F47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76148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Future Work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090672"/>
            <a:ext cx="55778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3090672"/>
            <a:ext cx="539495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▸  Complete model training &amp; collect AUC/F1 results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▸  Implement PHANTOM-FL full 5-innovation pipeline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▸  Extend to 3rd modality (clinical notes / tabular)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▸  Deploy on Raspberry Pi edge hardware prototype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▸  Submit to IEEE Trans. NNLS / TPDS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468112"/>
            <a:ext cx="11612880" cy="30175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54864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Key References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806440"/>
            <a:ext cx="1161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[1] McMahan et al. — Communication-Efficient Learning of Deep Networks. AISTATS 2017.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053327"/>
            <a:ext cx="1161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[2] Abadi et al.  — Deep Learning with Differential Privacy. CCS 2016.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300216"/>
            <a:ext cx="1161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[3] Wagner et al. — PTB-XL: A Large Publicly Available ECG Dataset. Sci. Data 2020.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547104"/>
            <a:ext cx="1161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[4] Kermany et al.— Identifying Medical Diagnoses using Deep Learning. Cell 2018.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EE"/>
                </a:solidFill>
              </a:rPr>
              <a:t>Samartha H V | MIT Bengaluru | M.Tech CSE |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